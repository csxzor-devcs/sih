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400" b="1">
                <a:latin typeface="Arial"/>
              </a:rPr>
              <a:t>Problem Statement ID - SIH2026-PS26153</a:t>
            </a:r>
          </a:p>
          <a:p>
            <a:r>
              <a:rPr sz="2400" b="1">
                <a:latin typeface="Arial"/>
              </a:rPr>
              <a:t>Problem Statement Title - Latent-Dynamics Network Attack Forecasting</a:t>
            </a:r>
          </a:p>
          <a:p>
            <a:r>
              <a:rPr sz="2400" b="1">
                <a:latin typeface="Arial"/>
              </a:rPr>
              <a:t>Theme - Smart Automation / Network Security (NTRO)</a:t>
            </a:r>
          </a:p>
          <a:p>
            <a:r>
              <a:rPr sz="2400" b="1">
                <a:latin typeface="Arial"/>
              </a:rPr>
              <a:t>PS Category - Software</a:t>
            </a:r>
          </a:p>
          <a:p>
            <a:r>
              <a:rPr sz="2400" b="1">
                <a:latin typeface="Arial"/>
              </a:rPr>
              <a:t>Team ID - [TEAM ID — fill before upload]</a:t>
            </a:r>
          </a:p>
          <a:p>
            <a:r>
              <a:rPr sz="2400" b="1">
                <a:latin typeface="Arial"/>
              </a:rPr>
              <a:t>Team Name (Registered on portal) - [TEAM NAME — fill before upload]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sz="3200" b="1">
                <a:solidFill/>
                <a:latin typeface="Arial"/>
              </a:rPr>
              <a:t>Proposed Solution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r>
              <a:rPr sz="1800" b="0">
                <a:latin typeface="Arial"/>
              </a:rPr>
              <a:t>  •  A learned GRU + latent-dynamics model that forecasts the onset and class of network attacks 1, 3, and 5 minutes ahead from the last 12 minutes of passive traffic observations.</a:t>
            </a:r>
          </a:p>
          <a:p>
            <a:r>
              <a:rPr sz="1800" b="0">
                <a:latin typeface="Arial"/>
              </a:rPr>
              <a:t>  •  Per-bin encoder (104→64) → GRU window encoder → deterministic MLP transition f_θ with free-running differentiable rollout → 3 heads (onset, class-conditional, present).</a:t>
            </a:r>
          </a:p>
          <a:p>
            <a:r>
              <a:rPr sz="1800" b="0">
                <a:latin typeface="Arial"/>
              </a:rPr>
              <a:t>  •  End-to-end two-signal training: heads-loss plus L_transition regression to the future encoder (λ=0.1) so the latent space is smooth in time.</a:t>
            </a:r>
          </a:p>
          <a:p>
            <a:r>
              <a:rPr sz="1800" b="0">
                <a:latin typeface="Arial"/>
              </a:rPr>
              <a:t>  •  How it addresses the problem:  an alert fires 1-5 min before an attack begins, not after the first packet lands — gives SOC operators a real preventive window.</a:t>
            </a:r>
          </a:p>
          <a:p>
            <a:r>
              <a:rPr sz="1800" b="0">
                <a:latin typeface="Arial"/>
              </a:rPr>
              <a:t>  •  Innovation:  the first 64-d latent-rolling forecaster on CIC-IDS-2017 with strict day-level splits and a paired bootstrap against classical ML and sequence baselines.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t>TEAM NAME — fill before upload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3200" b="1">
                <a:latin typeface="Arial"/>
              </a:rPr>
              <a:t>Technical Approach</a:t>
            </a:r>
          </a:p>
          <a:p>
            <a:r>
              <a:rPr sz="1800" b="0">
                <a:latin typeface="Arial"/>
              </a:rPr>
              <a:t>  •  Languages / frameworks:  Python 3.11, PyTorch ≥ 2.1 (CUDA 12.1), FastAPI, Pydantic, scikit-learn, XGBoost, NumPy, Pandas.</a:t>
            </a:r>
          </a:p>
          <a:p>
            <a:r>
              <a:rPr sz="1800" b="0">
                <a:latin typeface="Arial"/>
              </a:rPr>
              <a:t>  •  Frontend:  Next.js 14 (App Router, TypeScript), Tailwind, pnpm 12.</a:t>
            </a:r>
          </a:p>
          <a:p>
            <a:r>
              <a:rPr sz="1800" b="0">
                <a:latin typeface="Arial"/>
              </a:rPr>
              <a:t>  •  Hardware split:  dev (CPU) / training (HP Omen 16 RTX 4060 8 GB, 140 W TGP) / deploy (CPU).  No shared runtime — only artifacts.</a:t>
            </a:r>
          </a:p>
          <a:p>
            <a:r>
              <a:rPr sz="1800" b="0">
                <a:latin typeface="Arial"/>
              </a:rPr>
              <a:t>  •  Data:  CIC-IDS-2017, 8 per-day CSVs, 60-s bins, L=12 window, F_entity = 104.  15 raw labels → 8 canonical classes.</a:t>
            </a:r>
          </a:p>
          <a:p>
            <a:r>
              <a:rPr sz="1800" b="0">
                <a:latin typeface="Arial"/>
              </a:rPr>
              <a:t>  •  Methodology:  TDD-first, 108 unit + 8 dashboard tests gate every layer; static CI checks enforce no f-strings in src/, no API path to ground truth, day-level splits, scaler-fit-on-train-only.</a:t>
            </a:r>
          </a:p>
          <a:p>
            <a:r>
              <a:rPr sz="1800" b="0">
                <a:latin typeface="Arial"/>
              </a:rPr>
              <a:t>  •  Eval protocol:  paired bootstrap (n=1000) on identical windows for (primary − baseline) 95% CI across 5 seeds × 30 epochs.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t>TEAM NAME — fill before upload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3200" b="1">
                <a:solidFill/>
                <a:latin typeface="Arial"/>
              </a:rPr>
              <a:t>Feasibility and Viability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r>
              <a:rPr sz="1800" b="0">
                <a:latin typeface="Arial"/>
              </a:rPr>
              <a:t>  •  Feasibility:  full pipeline is end-to-end runnable today.  108/108 Python tests and 8/8 dashboard tests are green on the dev box; smoke-train confirms forward + loss + backward + optimizer step.</a:t>
            </a:r>
          </a:p>
          <a:p>
            <a:r>
              <a:rPr sz="1800" b="0">
                <a:latin typeface="Arial"/>
              </a:rPr>
              <a:t>  •  Headline run on friend's RTX 4060 8 GB (HP Omen 16, 140 W TGP):  1-2 h per seed, 5-7.5 h for 5-seed × 30-epoch, plus 2-3 h for 8 ablations.  Total ~7-10 h overnight.</a:t>
            </a:r>
          </a:p>
          <a:p>
            <a:r>
              <a:rPr sz="1800" b="0">
                <a:latin typeface="Arial"/>
              </a:rPr>
              <a:t>  •  Challenges / risks:  (1) 8 GB VRAM ceiling — pinned batch 64 fp32, no fp16 at larger batch;  (2) 4-channel leakage surface — static tests, day-level splits, and scaler-fit-on-train-only close every known path;  (3) class imbalance — onset positive rate is low, handled with stratified sampling and class-weight clipping [1, 50].</a:t>
            </a:r>
          </a:p>
          <a:p>
            <a:r>
              <a:rPr sz="1800" b="0">
                <a:latin typeface="Arial"/>
              </a:rPr>
              <a:t>  •  Mitigation:  ablations (V1-V11) isolate every load-bearing claim; cross-dataset check on UNSW-NB15 tests generalization; tier-3 CI gate enforces README claim ⇒ code existence.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t>TEAM NAME — fill before upload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3200" b="1">
                <a:solidFill/>
                <a:latin typeface="Arial"/>
              </a:rPr>
              <a:t>Impact and Benefits</a:t>
            </a:r>
          </a:p>
          <a:p>
            <a:r>
              <a:rPr sz="1800" b="0">
                <a:latin typeface="Arial"/>
              </a:rPr>
              <a:t>  •  Target audience:  SOC operators, NDR/IDS vendors, NTRO and national-CERT teams that need lead time, not just detection.</a:t>
            </a:r>
          </a:p>
          <a:p>
            <a:r>
              <a:rPr sz="1800" b="0">
                <a:latin typeface="Arial"/>
              </a:rPr>
              <a:t>  •  Operational impact:  shift from "did the attack happen?" to "is an attack about to start, and what class?"  Same alert channel, earlier signal, lower false-positive load.</a:t>
            </a:r>
          </a:p>
          <a:p>
            <a:r>
              <a:rPr sz="1800" b="0">
                <a:latin typeface="Arial"/>
              </a:rPr>
              <a:t>  •  Economic:  a 5-minute warning reduces the cost of an active incident by 60-80% in published industry data; a single prevented ransomware event covers the deployment cost.</a:t>
            </a:r>
          </a:p>
          <a:p>
            <a:r>
              <a:rPr sz="1800" b="0">
                <a:latin typeface="Arial"/>
              </a:rPr>
              <a:t>  •  Social / national:  helps protect critical-infrastructure operators (power, rail, telecom) by giving defenders a real lead time against novel and re-purposed attack tools.</a:t>
            </a:r>
          </a:p>
          <a:p>
            <a:r>
              <a:rPr sz="1800" b="0">
                <a:latin typeface="Arial"/>
              </a:rPr>
              <a:t>  •  Research:  the latent-rolling formulation is a general recipe for forecasting from any windowed observation stream; the codebase, spec, and 34-task SDD ledger are open for re-use.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t>TEAM NAME — fill before upload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3200" b="1">
                <a:solidFill/>
                <a:latin typeface="Arial"/>
              </a:rPr>
              <a:t>Research and References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r>
              <a:rPr sz="1600" b="0">
                <a:latin typeface="Arial"/>
              </a:rPr>
              <a:t>  •  Dataset:  Sharafaldin, Lashkari &amp; Ghorbani, "Toward Generating a New Intrusion Detection Dataset and Intrusion Traffic Characterization", ICISS 2018.  https://www.unb.ca/cic/datasets/ids-2017.html</a:t>
            </a:r>
          </a:p>
          <a:p>
            <a:r>
              <a:rPr sz="1600" b="0">
                <a:latin typeface="Arial"/>
              </a:rPr>
              <a:t>  •  Architecture inspiration:  Ha &amp; Schmidhuber, "World Models" (NeurIPS 2018) — latent dynamics with a learned transition; Karl, Soelch, Bayer et al., "Deep Variational Bayes Filters" (AISTATS 2017) for the DKF stochastic-transition alternative.</a:t>
            </a:r>
          </a:p>
          <a:p>
            <a:r>
              <a:rPr sz="1600" b="0">
                <a:latin typeface="Arial"/>
              </a:rPr>
              <a:t>  •  Eval protocol:  paired bootstrap on identical windows per Dietterich, "Approximate Statistical Tests for Comparing Supervised Classification Learning Algorithms" (Neural Computation 1998).</a:t>
            </a:r>
          </a:p>
          <a:p>
            <a:r>
              <a:rPr sz="1600" b="0">
                <a:latin typeface="Arial"/>
              </a:rPr>
              <a:t>  •  Cross-dataset reference:  Moustafa &amp; Slay, "UNSW-NB15: a comprehensive data set for network intrusion detection systems" (MilCIS 2015).</a:t>
            </a:r>
          </a:p>
          <a:p>
            <a:r>
              <a:rPr sz="1600" b="0">
                <a:latin typeface="Arial"/>
              </a:rPr>
              <a:t>  •  Project repo:  https://github.com/csxzor-devcs/sih  (frozen design spec rev 3, 34-task SDD ledger, 108/108 tests green).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t>TEAM NAME — fill before upload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